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4 分钟演示。先交代作品定位：它不是胜诉预测器，而是把案卷事实、金额和证据缺口整理成律师可复核底稿。</a:t>
            </a:r>
          </a:p>
          <a:p>
            <a:endParaRPr/>
          </a:p>
          <a:p>
            <a:r>
              <a:t>[Sources]</a:t>
            </a:r>
          </a:p>
          <a:p>
            <a:r>
              <a:t>- C:/Users/wtowt/Documents/Skills/LayerSkills/sale-payment-preflight/SKILL.md</a:t>
            </a:r>
          </a:p>
          <a:p>
            <a:r>
              <a:t>- C:/Users/wtowt/Documents/Skills/LayerSkills/submission/参赛作品技术说明书.docx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强调业务价值来自多文件交叉校验和可追溯，而不是生成更多文字。</a:t>
            </a:r>
          </a:p>
          <a:p>
            <a:endParaRPr/>
          </a:p>
          <a:p>
            <a:r>
              <a:t>[Sources]</a:t>
            </a:r>
          </a:p>
          <a:p>
            <a:r>
              <a:t>- https://gongbao.court.gov.cn/Details/ba1b35d94fe5430b29f99395323878.html</a:t>
            </a:r>
          </a:p>
          <a:p>
            <a:r>
              <a:t>- C:/Users/wtowt/Documents/Skills/LayerSkills/sale-payment-preflight/references/output-spec.md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范围边界是准确率和可推广性的基础；超范围案件会明确提示人工处理。</a:t>
            </a:r>
          </a:p>
          <a:p>
            <a:endParaRPr/>
          </a:p>
          <a:p>
            <a:r>
              <a:t>[Sources]</a:t>
            </a:r>
          </a:p>
          <a:p>
            <a:r>
              <a:t>- C:/Users/wtowt/Documents/Skills/LayerSkills/sale-payment-preflight/SKILL.md</a:t>
            </a:r>
          </a:p>
          <a:p>
            <a:r>
              <a:t>- C:/Users/wtowt/Documents/Skills/LayerSkills/submission/参赛作品技术说明书.docx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五个步骤压缩成三个视觉阶段：索引，提取与核算，规则审查与交付。任何无法判断的事项都不做确定性补写。</a:t>
            </a:r>
          </a:p>
          <a:p>
            <a:endParaRPr/>
          </a:p>
          <a:p>
            <a:r>
              <a:t>[Sources]</a:t>
            </a:r>
          </a:p>
          <a:p>
            <a:r>
              <a:t>- C:/Users/wtowt/Documents/Skills/LayerSkills/sale-payment-preflight/SKILL.md</a:t>
            </a:r>
          </a:p>
          <a:p>
            <a:r>
              <a:t>- C:/Users/wtowt/Documents/Skills/LayerSkills/sale-payment-preflight/references/rules.json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这是合成案卷的可重复结果，不是真实案件结论。验收要求本金核算准确率 100%。</a:t>
            </a:r>
          </a:p>
          <a:p>
            <a:endParaRPr/>
          </a:p>
          <a:p>
            <a:r>
              <a:t>[Sources]</a:t>
            </a:r>
          </a:p>
          <a:p>
            <a:r>
              <a:t>- C:/Users/wtowt/Documents/Skills/LayerSkills/sale-payment-preflight/assets/demo-cases/complete/expected.json</a:t>
            </a:r>
          </a:p>
          <a:p>
            <a:r>
              <a:t>- C:/Users/wtowt/Documents/Skills/LayerSkills/sale-payment-preflight/outputs/complete/04_货款核对表.xlsx</a:t>
            </a:r>
          </a:p>
          <a:p>
            <a:r>
              <a:t>- C:/Users/wtowt/Documents/Skills/LayerSkills/sale-payment-preflight/outputs/complete/audit.json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无书面合同时，Skill 的职责是整理证据组合和缺口，不替代律师认定合同成立。</a:t>
            </a:r>
          </a:p>
          <a:p>
            <a:endParaRPr/>
          </a:p>
          <a:p>
            <a:r>
              <a:t>[Sources]</a:t>
            </a:r>
          </a:p>
          <a:p>
            <a:r>
              <a:t>- https://gongbao.court.gov.cn/Details/ba1b35d94fe5430b29f99395323878.html</a:t>
            </a:r>
          </a:p>
          <a:p>
            <a:r>
              <a:t>- C:/Users/wtowt/Documents/Skills/LayerSkills/sale-payment-preflight/assets/demo-cases/no-written-contract/expected.json</a:t>
            </a:r>
          </a:p>
          <a:p>
            <a:r>
              <a:t>- C:/Users/wtowt/Documents/Skills/LayerSkills/sale-payment-preflight/outputs/complete/03_要件证据矩阵.xlsx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这页展示失败关闭与提示注入防护。右侧验收看板使用合成测试结果，不含任何客户资料。</a:t>
            </a:r>
          </a:p>
          <a:p>
            <a:endParaRPr/>
          </a:p>
          <a:p>
            <a:r>
              <a:t>[Sources]</a:t>
            </a:r>
          </a:p>
          <a:p>
            <a:r>
              <a:t>- C:/Users/wtowt/Documents/Skills/LayerSkills/sale-payment-preflight/assets/demo-cases/conflict-missing/expected.json</a:t>
            </a:r>
          </a:p>
          <a:p>
            <a:r>
              <a:t>- C:/Users/wtowt/Documents/Skills/LayerSkills/sale-payment-preflight/references/confidentiality.md</a:t>
            </a:r>
          </a:p>
          <a:p>
            <a:r>
              <a:t>- C:/Users/wtowt/Documents/Skills/LayerSkills/sale-payment-preflight/tests/test_security_boundaries.py</a:t>
            </a:r>
          </a:p>
          <a:p>
            <a:r>
              <a:t>- C:/Users/wtowt/Documents/Skills/LayerSkills/submission/律师盲测与验收记录.xlsx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固定接口让不同平台都能交付同一组成果，也让律师可以逐项复核。</a:t>
            </a:r>
          </a:p>
          <a:p>
            <a:endParaRPr/>
          </a:p>
          <a:p>
            <a:r>
              <a:t>[Sources]</a:t>
            </a:r>
          </a:p>
          <a:p>
            <a:r>
              <a:t>- C:/Users/wtowt/Documents/Skills/LayerSkills/sale-payment-preflight/references/output-spec.md</a:t>
            </a:r>
          </a:p>
          <a:p>
            <a:r>
              <a:t>- C:/Users/wtowt/Documents/Skills/LayerSkills/sale-payment-preflight/outputs/complete/audit.json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必须区分静态目录迁移校验和真实智能体运行。当前环境没有第二平台登录态，因此保持待完成，不虚构成功。</a:t>
            </a:r>
          </a:p>
          <a:p>
            <a:endParaRPr/>
          </a:p>
          <a:p>
            <a:r>
              <a:t>[Sources]</a:t>
            </a:r>
          </a:p>
          <a:p>
            <a:r>
              <a:t>- C:/Users/wtowt/Documents/Skills/LayerSkills/submission/compatibility-report.json</a:t>
            </a:r>
          </a:p>
          <a:p>
            <a:r>
              <a:t>- C:/Users/wtowt/Documents/Skills/LayerSkills/submission/second-platform-attempt.md</a:t>
            </a:r>
          </a:p>
          <a:p>
            <a:r>
              <a:t>- C:/Users/wtowt/Documents/Skills/LayerSkills/submission/release/blind-review-kit.zip</a:t>
            </a:r>
          </a:p>
          <a:p>
            <a:r>
              <a:t>- C:/Users/wtowt/Documents/Skills/LayerSkills/submission/律师盲测与验收记录.xlsx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最后回到定位：Skill 是可审计的执行助手，不是替代律师的裁判者。</a:t>
            </a:r>
          </a:p>
          <a:p>
            <a:endParaRPr/>
          </a:p>
          <a:p>
            <a:r>
              <a:t>[Sources]</a:t>
            </a:r>
          </a:p>
          <a:p>
            <a:r>
              <a:t>- C:/Users/wtowt/Documents/Skills/LayerSkills/submission/完成审计.md</a:t>
            </a:r>
          </a:p>
          <a:p>
            <a:r>
              <a:t>- C:/Users/wtowt/Documents/Skills/LayerSkills/submission/release/sale-payment-preflight.zip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-eyebrow">
            <a:extLst>
              <a:ext uri="{FF2B5EF4-FFF2-40B4-BE49-F238E27FC236}">
                <a16:creationId xmlns:a16="http://schemas.microsoft.com/office/drawing/2014/main" id="{D5CFA3CE-1387-4BE8-9FBD-BC0039F99470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8572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53657D"/>
                </a:solidFill>
                <a:latin typeface="Microsoft YaHei"/>
                <a:ea typeface="Microsoft YaHei"/>
                <a:cs typeface="Microsoft YaHei"/>
              </a:defRPr>
            </a:pPr>
            <a:r>
              <a:t>浙江省青年律师法律 AI Skill 征集</a:t>
            </a:r>
          </a:p>
        </p:txBody>
      </p:sp>
      <p:sp>
        <p:nvSpPr>
          <p:cNvPr id="2" name="cover-accent">
            <a:extLst>
              <a:ext uri="{FF2B5EF4-FFF2-40B4-BE49-F238E27FC236}">
                <a16:creationId xmlns:a16="http://schemas.microsoft.com/office/drawing/2014/main" id="{10D429A8-D0F9-49F9-A7DE-9FE980DABD24}"/>
              </a:ext>
            </a:extLst>
          </p:cNvPr>
          <p:cNvSpPr>
            <a:spLocks noGrp="1"/>
          </p:cNvSpPr>
          <p:nvPr/>
        </p:nvSpPr>
        <p:spPr>
          <a:xfrm>
            <a:off x="393668" y="1571625"/>
            <a:ext cx="1104900" cy="76200"/>
          </a:xfrm>
          <a:prstGeom prst="rect">
            <a:avLst/>
          </a:prstGeom>
          <a:solidFill>
            <a:srgbClr val="3D8DFF"/>
          </a:solidFill>
        </p:spPr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43ED0E94-24E0-49C7-9C9C-10A083315346}"/>
              </a:ext>
            </a:extLst>
          </p:cNvPr>
          <p:cNvSpPr>
            <a:spLocks noGrp="1"/>
          </p:cNvSpPr>
          <p:nvPr/>
        </p:nvSpPr>
        <p:spPr>
          <a:xfrm>
            <a:off x="393668" y="1847850"/>
            <a:ext cx="10287000" cy="233362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企业买卖合同货款追索
诉前案卷体检 Skill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0941DD54-82BD-4F8B-BC10-FE9E39F18FBB}"/>
              </a:ext>
            </a:extLst>
          </p:cNvPr>
          <p:cNvSpPr>
            <a:spLocks noGrp="1"/>
          </p:cNvSpPr>
          <p:nvPr/>
        </p:nvSpPr>
        <p:spPr>
          <a:xfrm>
            <a:off x="393668" y="4705350"/>
            <a:ext cx="10382250" cy="1000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394B61"/>
                </a:solidFill>
                <a:latin typeface="Microsoft YaHei"/>
                <a:ea typeface="Microsoft YaHei"/>
                <a:cs typeface="Microsoft YaHei"/>
              </a:defRPr>
            </a:pPr>
            <a:r>
              <a:t>sale-payment-preflight  ｜  合成案卷演示  ｜  律师复核前草稿</a:t>
            </a:r>
          </a:p>
        </p:txBody>
      </p:sp>
    </p:spTree>
    <p:extLst>
      <p:ext uri="{BB962C8B-B14F-4D97-AF65-F5344CB8AC3E}">
        <p14:creationId xmlns:p14="http://schemas.microsoft.com/office/powerpoint/2010/main" val="476668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etrics-title-2">
            <a:extLst>
              <a:ext uri="{FF2B5EF4-FFF2-40B4-BE49-F238E27FC236}">
                <a16:creationId xmlns:a16="http://schemas.microsoft.com/office/drawing/2014/main" id="{497DED41-4E1B-41D9-AB37-5956FA42DE61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95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选题抓住了律师最费时、也最可审计的一段工作</a:t>
            </a:r>
          </a:p>
        </p:txBody>
      </p:sp>
      <p:sp>
        <p:nvSpPr>
          <p:cNvPr id="2" name="metrics-intro-2">
            <a:extLst>
              <a:ext uri="{FF2B5EF4-FFF2-40B4-BE49-F238E27FC236}">
                <a16:creationId xmlns:a16="http://schemas.microsoft.com/office/drawing/2014/main" id="{038B4801-13CC-4857-8CC7-68DC7403BA1B}"/>
              </a:ext>
            </a:extLst>
          </p:cNvPr>
          <p:cNvSpPr>
            <a:spLocks noGrp="1"/>
          </p:cNvSpPr>
          <p:nvPr/>
        </p:nvSpPr>
        <p:spPr>
          <a:xfrm>
            <a:off x="393668" y="1257300"/>
            <a:ext cx="11404568" cy="1314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defRPr>
            </a:pPr>
            <a:r>
              <a:t>境内 B2B 卖方追索货款时，合同、订单、交付、开票、付款与催告常分散在多份材料中。Skill 先重建事实和证据链，再由律师判断诉讼策略。</a:t>
            </a:r>
          </a:p>
        </p:txBody>
      </p:sp>
      <p:sp>
        <p:nvSpPr>
          <p:cNvPr id="3" name="metrics-panel-2-0">
            <a:extLst>
              <a:ext uri="{FF2B5EF4-FFF2-40B4-BE49-F238E27FC236}">
                <a16:creationId xmlns:a16="http://schemas.microsoft.com/office/drawing/2014/main" id="{9E4D3066-060D-4F19-967F-CCCE2A852622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4" name="metrics-value-2-0">
            <a:extLst>
              <a:ext uri="{FF2B5EF4-FFF2-40B4-BE49-F238E27FC236}">
                <a16:creationId xmlns:a16="http://schemas.microsoft.com/office/drawing/2014/main" id="{966C4518-A76E-42E9-B314-8F57E19690D5}"/>
              </a:ext>
            </a:extLst>
          </p:cNvPr>
          <p:cNvSpPr>
            <a:spLocks noGrp="1"/>
          </p:cNvSpPr>
          <p:nvPr/>
        </p:nvSpPr>
        <p:spPr>
          <a:xfrm>
            <a:off x="698468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8 类</a:t>
            </a:r>
          </a:p>
        </p:txBody>
      </p:sp>
      <p:sp>
        <p:nvSpPr>
          <p:cNvPr id="5" name="metrics-label-2-0">
            <a:extLst>
              <a:ext uri="{FF2B5EF4-FFF2-40B4-BE49-F238E27FC236}">
                <a16:creationId xmlns:a16="http://schemas.microsoft.com/office/drawing/2014/main" id="{16026152-1AED-42DF-A73A-B50657EB33EA}"/>
              </a:ext>
            </a:extLst>
          </p:cNvPr>
          <p:cNvSpPr>
            <a:spLocks noGrp="1"/>
          </p:cNvSpPr>
          <p:nvPr/>
        </p:nvSpPr>
        <p:spPr>
          <a:xfrm>
            <a:off x="698468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材料统一索引</a:t>
            </a:r>
          </a:p>
        </p:txBody>
      </p:sp>
      <p:sp>
        <p:nvSpPr>
          <p:cNvPr id="6" name="metrics-panel-2-1">
            <a:extLst>
              <a:ext uri="{FF2B5EF4-FFF2-40B4-BE49-F238E27FC236}">
                <a16:creationId xmlns:a16="http://schemas.microsoft.com/office/drawing/2014/main" id="{1BB61A4D-B93E-45C4-A545-80FC4F6EB783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7" name="metrics-value-2-1">
            <a:extLst>
              <a:ext uri="{FF2B5EF4-FFF2-40B4-BE49-F238E27FC236}">
                <a16:creationId xmlns:a16="http://schemas.microsoft.com/office/drawing/2014/main" id="{87DD27B9-605E-4E57-A373-8C1AADC97EE5}"/>
              </a:ext>
            </a:extLst>
          </p:cNvPr>
          <p:cNvSpPr>
            <a:spLocks noGrp="1"/>
          </p:cNvSpPr>
          <p:nvPr/>
        </p:nvSpPr>
        <p:spPr>
          <a:xfrm>
            <a:off x="4616482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7 项</a:t>
            </a:r>
          </a:p>
        </p:txBody>
      </p:sp>
      <p:sp>
        <p:nvSpPr>
          <p:cNvPr id="8" name="metrics-label-2-1">
            <a:extLst>
              <a:ext uri="{FF2B5EF4-FFF2-40B4-BE49-F238E27FC236}">
                <a16:creationId xmlns:a16="http://schemas.microsoft.com/office/drawing/2014/main" id="{C6FBC0EB-4863-4067-8C58-64DA233A70F1}"/>
              </a:ext>
            </a:extLst>
          </p:cNvPr>
          <p:cNvSpPr>
            <a:spLocks noGrp="1"/>
          </p:cNvSpPr>
          <p:nvPr/>
        </p:nvSpPr>
        <p:spPr>
          <a:xfrm>
            <a:off x="4616482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固定格式交付</a:t>
            </a:r>
          </a:p>
        </p:txBody>
      </p:sp>
      <p:sp>
        <p:nvSpPr>
          <p:cNvPr id="9" name="metrics-panel-2-2">
            <a:extLst>
              <a:ext uri="{FF2B5EF4-FFF2-40B4-BE49-F238E27FC236}">
                <a16:creationId xmlns:a16="http://schemas.microsoft.com/office/drawing/2014/main" id="{0BD54516-0484-4C03-B625-81DB11C6FB29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10" name="metrics-value-2-2">
            <a:extLst>
              <a:ext uri="{FF2B5EF4-FFF2-40B4-BE49-F238E27FC236}">
                <a16:creationId xmlns:a16="http://schemas.microsoft.com/office/drawing/2014/main" id="{D2CAED4D-8327-4ED1-A3CC-CBDA1708C9A8}"/>
              </a:ext>
            </a:extLst>
          </p:cNvPr>
          <p:cNvSpPr>
            <a:spLocks noGrp="1"/>
          </p:cNvSpPr>
          <p:nvPr/>
        </p:nvSpPr>
        <p:spPr>
          <a:xfrm>
            <a:off x="8537067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100%</a:t>
            </a:r>
          </a:p>
        </p:txBody>
      </p:sp>
      <p:sp>
        <p:nvSpPr>
          <p:cNvPr id="11" name="metrics-label-2-2">
            <a:extLst>
              <a:ext uri="{FF2B5EF4-FFF2-40B4-BE49-F238E27FC236}">
                <a16:creationId xmlns:a16="http://schemas.microsoft.com/office/drawing/2014/main" id="{B8534BBA-A59F-4462-B3CD-8FFC54AD364F}"/>
              </a:ext>
            </a:extLst>
          </p:cNvPr>
          <p:cNvSpPr>
            <a:spLocks noGrp="1"/>
          </p:cNvSpPr>
          <p:nvPr/>
        </p:nvSpPr>
        <p:spPr>
          <a:xfrm>
            <a:off x="8537067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事实附来源定位</a:t>
            </a:r>
          </a:p>
        </p:txBody>
      </p:sp>
      <p:sp>
        <p:nvSpPr>
          <p:cNvPr id="12" name="footer-2">
            <a:extLst>
              <a:ext uri="{FF2B5EF4-FFF2-40B4-BE49-F238E27FC236}">
                <a16:creationId xmlns:a16="http://schemas.microsoft.com/office/drawing/2014/main" id="{66232B1A-09BA-442F-8AC2-39DFC6EE808C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2820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plit-title-3">
            <a:extLst>
              <a:ext uri="{FF2B5EF4-FFF2-40B4-BE49-F238E27FC236}">
                <a16:creationId xmlns:a16="http://schemas.microsoft.com/office/drawing/2014/main" id="{4C80E978-95E8-4EA9-8C22-C83437B05EF6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边界收得足够窄，首版才能做到开箱即用</a:t>
            </a:r>
          </a:p>
        </p:txBody>
      </p:sp>
      <p:sp>
        <p:nvSpPr>
          <p:cNvPr id="2" name="split-body-3">
            <a:extLst>
              <a:ext uri="{FF2B5EF4-FFF2-40B4-BE49-F238E27FC236}">
                <a16:creationId xmlns:a16="http://schemas.microsoft.com/office/drawing/2014/main" id="{05658E79-47D1-4791-8E2F-7827B48AA28D}"/>
              </a:ext>
            </a:extLst>
          </p:cNvPr>
          <p:cNvSpPr>
            <a:spLocks noGrp="1"/>
          </p:cNvSpPr>
          <p:nvPr/>
        </p:nvSpPr>
        <p:spPr>
          <a:xfrm>
            <a:off x="393668" y="1676400"/>
            <a:ext cx="5429250" cy="419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只处理
境内 B2B 货物买卖
卖方追索未付货款
覆盖
无书面合同｜分批交付｜部分付款
明确排除
跨境｜消费｜建工｜破产｜担保
多币种｜复杂质量反诉</a:t>
            </a:r>
          </a:p>
        </p:txBody>
      </p:sp>
      <p:sp>
        <p:nvSpPr>
          <p:cNvPr id="3" name="split-image-backing-3">
            <a:extLst>
              <a:ext uri="{FF2B5EF4-FFF2-40B4-BE49-F238E27FC236}">
                <a16:creationId xmlns:a16="http://schemas.microsoft.com/office/drawing/2014/main" id="{5FB97C44-283B-4961-8E59-5EB8DBF9B426}"/>
              </a:ext>
            </a:extLst>
          </p:cNvPr>
          <p:cNvSpPr>
            <a:spLocks noGrp="1"/>
          </p:cNvSpPr>
          <p:nvPr/>
        </p:nvSpPr>
        <p:spPr>
          <a:xfrm>
            <a:off x="6269069" y="1428750"/>
            <a:ext cx="5539740" cy="4569143"/>
          </a:xfrm>
          <a:prstGeom prst="roundRect">
            <a:avLst>
              <a:gd name="adj" fmla="val 1668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64773" y="1543050"/>
            <a:ext cx="3348903" cy="4333875"/>
          </a:xfrm>
          <a:prstGeom prst="rect">
            <a:avLst/>
          </a:prstGeom>
        </p:spPr>
      </p:pic>
      <p:sp>
        <p:nvSpPr>
          <p:cNvPr id="5" name="footer-3">
            <a:extLst>
              <a:ext uri="{FF2B5EF4-FFF2-40B4-BE49-F238E27FC236}">
                <a16:creationId xmlns:a16="http://schemas.microsoft.com/office/drawing/2014/main" id="{E61872A3-EBF6-4EB6-A8DD-3CC61E23979B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0816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meline-title-4">
            <a:extLst>
              <a:ext uri="{FF2B5EF4-FFF2-40B4-BE49-F238E27FC236}">
                <a16:creationId xmlns:a16="http://schemas.microsoft.com/office/drawing/2014/main" id="{707DC605-111F-4382-BFA2-C8510B973A87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五步把散乱案卷变成律师可复核的诉前底稿</a:t>
            </a:r>
          </a:p>
        </p:txBody>
      </p:sp>
      <p:cxnSp>
        <p:nvCxnSpPr>
          <p:cNvPr id="14" name="timeline-rule-4"/>
          <p:cNvCxnSpPr/>
          <p:nvPr/>
        </p:nvCxnSpPr>
        <p:spPr>
          <a:xfrm>
            <a:off x="337757" y="3373755"/>
            <a:ext cx="11460480" cy="286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3" name="timeline-dot-4-0">
            <a:extLst>
              <a:ext uri="{FF2B5EF4-FFF2-40B4-BE49-F238E27FC236}">
                <a16:creationId xmlns:a16="http://schemas.microsoft.com/office/drawing/2014/main" id="{56C14252-2279-4A63-A1FD-922AA92FAB78}"/>
              </a:ext>
            </a:extLst>
          </p:cNvPr>
          <p:cNvSpPr>
            <a:spLocks noGrp="1"/>
          </p:cNvSpPr>
          <p:nvPr/>
        </p:nvSpPr>
        <p:spPr>
          <a:xfrm>
            <a:off x="393668" y="3301365"/>
            <a:ext cx="152400" cy="152400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4" name="timeline-label-4-0">
            <a:extLst>
              <a:ext uri="{FF2B5EF4-FFF2-40B4-BE49-F238E27FC236}">
                <a16:creationId xmlns:a16="http://schemas.microsoft.com/office/drawing/2014/main" id="{4033B5A5-2BAB-4C95-B848-74B61CD80ABC}"/>
              </a:ext>
            </a:extLst>
          </p:cNvPr>
          <p:cNvSpPr>
            <a:spLocks noGrp="1"/>
          </p:cNvSpPr>
          <p:nvPr/>
        </p:nvSpPr>
        <p:spPr>
          <a:xfrm>
            <a:off x="393668" y="2695575"/>
            <a:ext cx="3143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01–02 入库与提取</a:t>
            </a:r>
          </a:p>
        </p:txBody>
      </p:sp>
      <p:sp>
        <p:nvSpPr>
          <p:cNvPr id="5" name="timeline-body-4-0">
            <a:extLst>
              <a:ext uri="{FF2B5EF4-FFF2-40B4-BE49-F238E27FC236}">
                <a16:creationId xmlns:a16="http://schemas.microsoft.com/office/drawing/2014/main" id="{0A7FE74C-74C2-42EF-BBE7-1A5559CBEAD7}"/>
              </a:ext>
            </a:extLst>
          </p:cNvPr>
          <p:cNvSpPr>
            <a:spLocks noGrp="1"/>
          </p:cNvSpPr>
          <p:nvPr/>
        </p:nvSpPr>
        <p:spPr>
          <a:xfrm>
            <a:off x="393668" y="3781425"/>
            <a:ext cx="3152775" cy="1657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清单＋哈希
原件不改动</a:t>
            </a:r>
          </a:p>
        </p:txBody>
      </p:sp>
      <p:sp>
        <p:nvSpPr>
          <p:cNvPr id="6" name="timeline-dot-4-1">
            <a:extLst>
              <a:ext uri="{FF2B5EF4-FFF2-40B4-BE49-F238E27FC236}">
                <a16:creationId xmlns:a16="http://schemas.microsoft.com/office/drawing/2014/main" id="{759A13ED-A2CE-4EDC-A904-AADE9872EF98}"/>
              </a:ext>
            </a:extLst>
          </p:cNvPr>
          <p:cNvSpPr>
            <a:spLocks noGrp="1"/>
          </p:cNvSpPr>
          <p:nvPr/>
        </p:nvSpPr>
        <p:spPr>
          <a:xfrm>
            <a:off x="4311682" y="3301365"/>
            <a:ext cx="152400" cy="152400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timeline-label-4-1">
            <a:extLst>
              <a:ext uri="{FF2B5EF4-FFF2-40B4-BE49-F238E27FC236}">
                <a16:creationId xmlns:a16="http://schemas.microsoft.com/office/drawing/2014/main" id="{E98B1555-4D4A-4ECF-B39F-53F3E6584064}"/>
              </a:ext>
            </a:extLst>
          </p:cNvPr>
          <p:cNvSpPr>
            <a:spLocks noGrp="1"/>
          </p:cNvSpPr>
          <p:nvPr/>
        </p:nvSpPr>
        <p:spPr>
          <a:xfrm>
            <a:off x="4311682" y="2695575"/>
            <a:ext cx="3143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03 时间轴与核算</a:t>
            </a:r>
          </a:p>
        </p:txBody>
      </p:sp>
      <p:sp>
        <p:nvSpPr>
          <p:cNvPr id="8" name="timeline-body-4-1">
            <a:extLst>
              <a:ext uri="{FF2B5EF4-FFF2-40B4-BE49-F238E27FC236}">
                <a16:creationId xmlns:a16="http://schemas.microsoft.com/office/drawing/2014/main" id="{281110F8-B905-4288-8F6B-D682B2450F3A}"/>
              </a:ext>
            </a:extLst>
          </p:cNvPr>
          <p:cNvSpPr>
            <a:spLocks noGrp="1"/>
          </p:cNvSpPr>
          <p:nvPr/>
        </p:nvSpPr>
        <p:spPr>
          <a:xfrm>
            <a:off x="4311682" y="3781425"/>
            <a:ext cx="3152775" cy="1657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时间轴＋本金
逐项保留定位</a:t>
            </a:r>
          </a:p>
        </p:txBody>
      </p:sp>
      <p:sp>
        <p:nvSpPr>
          <p:cNvPr id="9" name="timeline-dot-4-2">
            <a:extLst>
              <a:ext uri="{FF2B5EF4-FFF2-40B4-BE49-F238E27FC236}">
                <a16:creationId xmlns:a16="http://schemas.microsoft.com/office/drawing/2014/main" id="{D8BBDA1C-CF74-4C4B-B8FE-4036609EFB66}"/>
              </a:ext>
            </a:extLst>
          </p:cNvPr>
          <p:cNvSpPr>
            <a:spLocks noGrp="1"/>
          </p:cNvSpPr>
          <p:nvPr/>
        </p:nvSpPr>
        <p:spPr>
          <a:xfrm>
            <a:off x="8232267" y="3301365"/>
            <a:ext cx="152400" cy="1524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0" name="timeline-label-4-2">
            <a:extLst>
              <a:ext uri="{FF2B5EF4-FFF2-40B4-BE49-F238E27FC236}">
                <a16:creationId xmlns:a16="http://schemas.microsoft.com/office/drawing/2014/main" id="{88EF2D23-8A66-4BA8-A22E-80A8E30BCD7B}"/>
              </a:ext>
            </a:extLst>
          </p:cNvPr>
          <p:cNvSpPr>
            <a:spLocks noGrp="1"/>
          </p:cNvSpPr>
          <p:nvPr/>
        </p:nvSpPr>
        <p:spPr>
          <a:xfrm>
            <a:off x="8232267" y="2695575"/>
            <a:ext cx="3143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04–05 规则与交付</a:t>
            </a:r>
          </a:p>
        </p:txBody>
      </p:sp>
      <p:sp>
        <p:nvSpPr>
          <p:cNvPr id="11" name="timeline-body-4-2">
            <a:extLst>
              <a:ext uri="{FF2B5EF4-FFF2-40B4-BE49-F238E27FC236}">
                <a16:creationId xmlns:a16="http://schemas.microsoft.com/office/drawing/2014/main" id="{CAFFA251-8851-43F2-9AAE-C2AD15C59291}"/>
              </a:ext>
            </a:extLst>
          </p:cNvPr>
          <p:cNvSpPr>
            <a:spLocks noGrp="1"/>
          </p:cNvSpPr>
          <p:nvPr/>
        </p:nvSpPr>
        <p:spPr>
          <a:xfrm>
            <a:off x="8232267" y="3781425"/>
            <a:ext cx="3152775" cy="1657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矛盾、缺证、管辖
统一标“待核实”</a:t>
            </a:r>
          </a:p>
        </p:txBody>
      </p:sp>
      <p:sp>
        <p:nvSpPr>
          <p:cNvPr id="12" name="footer-4">
            <a:extLst>
              <a:ext uri="{FF2B5EF4-FFF2-40B4-BE49-F238E27FC236}">
                <a16:creationId xmlns:a16="http://schemas.microsoft.com/office/drawing/2014/main" id="{651F477C-11FB-4F60-86EE-0F62E656CC61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193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etrics-title-5">
            <a:extLst>
              <a:ext uri="{FF2B5EF4-FFF2-40B4-BE49-F238E27FC236}">
                <a16:creationId xmlns:a16="http://schemas.microsoft.com/office/drawing/2014/main" id="{BC0CEE41-D012-4340-AD29-11B91FFACE39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95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完整履约案：程序复算出未付本金 100,000 元</a:t>
            </a:r>
          </a:p>
        </p:txBody>
      </p:sp>
      <p:sp>
        <p:nvSpPr>
          <p:cNvPr id="2" name="metrics-intro-5">
            <a:extLst>
              <a:ext uri="{FF2B5EF4-FFF2-40B4-BE49-F238E27FC236}">
                <a16:creationId xmlns:a16="http://schemas.microsoft.com/office/drawing/2014/main" id="{7F5B34F2-FB8D-4FE1-AFE6-F4608ABE774F}"/>
              </a:ext>
            </a:extLst>
          </p:cNvPr>
          <p:cNvSpPr>
            <a:spLocks noGrp="1"/>
          </p:cNvSpPr>
          <p:nvPr/>
        </p:nvSpPr>
        <p:spPr>
          <a:xfrm>
            <a:off x="393668" y="1257300"/>
            <a:ext cx="11404568" cy="1314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defRPr>
            </a:pPr>
            <a:r>
              <a:t>两批交付、两笔付款。程序只统计“已确认”流水，并使用十进制定点运算；应收减付款、退货与折让得到未付本金。</a:t>
            </a:r>
          </a:p>
        </p:txBody>
      </p:sp>
      <p:sp>
        <p:nvSpPr>
          <p:cNvPr id="3" name="metrics-panel-5-0">
            <a:extLst>
              <a:ext uri="{FF2B5EF4-FFF2-40B4-BE49-F238E27FC236}">
                <a16:creationId xmlns:a16="http://schemas.microsoft.com/office/drawing/2014/main" id="{D7350FDB-C98F-4473-AD30-DB1CCE50AD2C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4" name="metrics-value-5-0">
            <a:extLst>
              <a:ext uri="{FF2B5EF4-FFF2-40B4-BE49-F238E27FC236}">
                <a16:creationId xmlns:a16="http://schemas.microsoft.com/office/drawing/2014/main" id="{F03B4898-F063-422F-9D04-B7B37B971D16}"/>
              </a:ext>
            </a:extLst>
          </p:cNvPr>
          <p:cNvSpPr>
            <a:spLocks noGrp="1"/>
          </p:cNvSpPr>
          <p:nvPr/>
        </p:nvSpPr>
        <p:spPr>
          <a:xfrm>
            <a:off x="698468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¥380,000</a:t>
            </a:r>
          </a:p>
        </p:txBody>
      </p:sp>
      <p:sp>
        <p:nvSpPr>
          <p:cNvPr id="5" name="metrics-label-5-0">
            <a:extLst>
              <a:ext uri="{FF2B5EF4-FFF2-40B4-BE49-F238E27FC236}">
                <a16:creationId xmlns:a16="http://schemas.microsoft.com/office/drawing/2014/main" id="{C35BDF06-EB31-4B70-A67D-0EAF2EEE3916}"/>
              </a:ext>
            </a:extLst>
          </p:cNvPr>
          <p:cNvSpPr>
            <a:spLocks noGrp="1"/>
          </p:cNvSpPr>
          <p:nvPr/>
        </p:nvSpPr>
        <p:spPr>
          <a:xfrm>
            <a:off x="698468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已确认应收</a:t>
            </a:r>
          </a:p>
        </p:txBody>
      </p:sp>
      <p:sp>
        <p:nvSpPr>
          <p:cNvPr id="6" name="metrics-panel-5-1">
            <a:extLst>
              <a:ext uri="{FF2B5EF4-FFF2-40B4-BE49-F238E27FC236}">
                <a16:creationId xmlns:a16="http://schemas.microsoft.com/office/drawing/2014/main" id="{675265F0-B4D8-495B-97A0-0ABB350198DE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7" name="metrics-value-5-1">
            <a:extLst>
              <a:ext uri="{FF2B5EF4-FFF2-40B4-BE49-F238E27FC236}">
                <a16:creationId xmlns:a16="http://schemas.microsoft.com/office/drawing/2014/main" id="{004D6CF9-94C8-4D1E-BC99-1C39AF4CCAEC}"/>
              </a:ext>
            </a:extLst>
          </p:cNvPr>
          <p:cNvSpPr>
            <a:spLocks noGrp="1"/>
          </p:cNvSpPr>
          <p:nvPr/>
        </p:nvSpPr>
        <p:spPr>
          <a:xfrm>
            <a:off x="4616482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¥280,000</a:t>
            </a:r>
          </a:p>
        </p:txBody>
      </p:sp>
      <p:sp>
        <p:nvSpPr>
          <p:cNvPr id="8" name="metrics-label-5-1">
            <a:extLst>
              <a:ext uri="{FF2B5EF4-FFF2-40B4-BE49-F238E27FC236}">
                <a16:creationId xmlns:a16="http://schemas.microsoft.com/office/drawing/2014/main" id="{1AD05580-BB01-4698-8BAA-935A32ABE271}"/>
              </a:ext>
            </a:extLst>
          </p:cNvPr>
          <p:cNvSpPr>
            <a:spLocks noGrp="1"/>
          </p:cNvSpPr>
          <p:nvPr/>
        </p:nvSpPr>
        <p:spPr>
          <a:xfrm>
            <a:off x="4616482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已确认付款</a:t>
            </a:r>
          </a:p>
        </p:txBody>
      </p:sp>
      <p:sp>
        <p:nvSpPr>
          <p:cNvPr id="9" name="metrics-panel-5-2">
            <a:extLst>
              <a:ext uri="{FF2B5EF4-FFF2-40B4-BE49-F238E27FC236}">
                <a16:creationId xmlns:a16="http://schemas.microsoft.com/office/drawing/2014/main" id="{685D315E-F7E1-4551-AFED-386922D5A248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10" name="metrics-value-5-2">
            <a:extLst>
              <a:ext uri="{FF2B5EF4-FFF2-40B4-BE49-F238E27FC236}">
                <a16:creationId xmlns:a16="http://schemas.microsoft.com/office/drawing/2014/main" id="{849041DC-27E4-45BC-B60D-97C4F3C67907}"/>
              </a:ext>
            </a:extLst>
          </p:cNvPr>
          <p:cNvSpPr>
            <a:spLocks noGrp="1"/>
          </p:cNvSpPr>
          <p:nvPr/>
        </p:nvSpPr>
        <p:spPr>
          <a:xfrm>
            <a:off x="8537067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¥100,000</a:t>
            </a:r>
          </a:p>
        </p:txBody>
      </p:sp>
      <p:sp>
        <p:nvSpPr>
          <p:cNvPr id="11" name="metrics-label-5-2">
            <a:extLst>
              <a:ext uri="{FF2B5EF4-FFF2-40B4-BE49-F238E27FC236}">
                <a16:creationId xmlns:a16="http://schemas.microsoft.com/office/drawing/2014/main" id="{1106AAED-734D-4386-933A-2A5016F43E9B}"/>
              </a:ext>
            </a:extLst>
          </p:cNvPr>
          <p:cNvSpPr>
            <a:spLocks noGrp="1"/>
          </p:cNvSpPr>
          <p:nvPr/>
        </p:nvSpPr>
        <p:spPr>
          <a:xfrm>
            <a:off x="8537067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未付本金</a:t>
            </a:r>
          </a:p>
        </p:txBody>
      </p:sp>
      <p:sp>
        <p:nvSpPr>
          <p:cNvPr id="12" name="footer-5">
            <a:extLst>
              <a:ext uri="{FF2B5EF4-FFF2-40B4-BE49-F238E27FC236}">
                <a16:creationId xmlns:a16="http://schemas.microsoft.com/office/drawing/2014/main" id="{77A522D8-D9E4-4FF0-B5A1-E7CA122A3768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1044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plit-title-6">
            <a:extLst>
              <a:ext uri="{FF2B5EF4-FFF2-40B4-BE49-F238E27FC236}">
                <a16:creationId xmlns:a16="http://schemas.microsoft.com/office/drawing/2014/main" id="{3CC854B5-62C2-4234-8745-14B1F0BAF42A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无书面合同也不跳结论：只呈现可核实的证据组合</a:t>
            </a:r>
          </a:p>
        </p:txBody>
      </p:sp>
      <p:sp>
        <p:nvSpPr>
          <p:cNvPr id="2" name="split-body-6">
            <a:extLst>
              <a:ext uri="{FF2B5EF4-FFF2-40B4-BE49-F238E27FC236}">
                <a16:creationId xmlns:a16="http://schemas.microsoft.com/office/drawing/2014/main" id="{E70112C4-5FB8-44D9-85FD-A5A2BE579853}"/>
              </a:ext>
            </a:extLst>
          </p:cNvPr>
          <p:cNvSpPr>
            <a:spLocks noGrp="1"/>
          </p:cNvSpPr>
          <p:nvPr/>
        </p:nvSpPr>
        <p:spPr>
          <a:xfrm>
            <a:off x="393668" y="1676400"/>
            <a:ext cx="5429250" cy="419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订单、送货单、发票、对账、聊天记录
分别提取主体、标的、交付与价款线索
输出措辞
“发现支持性材料线索”
“仍需律师结合原件与交易习惯判断”
禁止
仅凭发票认定买卖关系成立</a:t>
            </a:r>
          </a:p>
        </p:txBody>
      </p:sp>
      <p:sp>
        <p:nvSpPr>
          <p:cNvPr id="3" name="split-image-backing-6">
            <a:extLst>
              <a:ext uri="{FF2B5EF4-FFF2-40B4-BE49-F238E27FC236}">
                <a16:creationId xmlns:a16="http://schemas.microsoft.com/office/drawing/2014/main" id="{ADA223DB-0DA6-4C89-A7E2-D2E0E9648E5A}"/>
              </a:ext>
            </a:extLst>
          </p:cNvPr>
          <p:cNvSpPr>
            <a:spLocks noGrp="1"/>
          </p:cNvSpPr>
          <p:nvPr/>
        </p:nvSpPr>
        <p:spPr>
          <a:xfrm>
            <a:off x="6269069" y="1428750"/>
            <a:ext cx="5539740" cy="4569143"/>
          </a:xfrm>
          <a:prstGeom prst="roundRect">
            <a:avLst>
              <a:gd name="adj" fmla="val 1668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26353" r="26353"/>
          <a:stretch>
            <a:fillRect/>
          </a:stretch>
        </p:blipFill>
        <p:spPr>
          <a:xfrm>
            <a:off x="6381750" y="1543050"/>
            <a:ext cx="5314950" cy="4333875"/>
          </a:xfrm>
          <a:prstGeom prst="rect">
            <a:avLst/>
          </a:prstGeom>
        </p:spPr>
      </p:pic>
      <p:sp>
        <p:nvSpPr>
          <p:cNvPr id="5" name="footer-6">
            <a:extLst>
              <a:ext uri="{FF2B5EF4-FFF2-40B4-BE49-F238E27FC236}">
                <a16:creationId xmlns:a16="http://schemas.microsoft.com/office/drawing/2014/main" id="{D2DB0A3E-BEDC-47C4-B652-6CC7ADE897AC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1339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plit-title-7">
            <a:extLst>
              <a:ext uri="{FF2B5EF4-FFF2-40B4-BE49-F238E27FC236}">
                <a16:creationId xmlns:a16="http://schemas.microsoft.com/office/drawing/2014/main" id="{7B0601D5-A113-4C78-96AD-646A246387FB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冲突缺证案：异常必须暴露，不能被模型补齐</a:t>
            </a:r>
          </a:p>
        </p:txBody>
      </p:sp>
      <p:sp>
        <p:nvSpPr>
          <p:cNvPr id="2" name="split-body-7">
            <a:extLst>
              <a:ext uri="{FF2B5EF4-FFF2-40B4-BE49-F238E27FC236}">
                <a16:creationId xmlns:a16="http://schemas.microsoft.com/office/drawing/2014/main" id="{22CD97AB-6073-4E9D-9E93-CE5F60403DBC}"/>
              </a:ext>
            </a:extLst>
          </p:cNvPr>
          <p:cNvSpPr>
            <a:spLocks noGrp="1"/>
          </p:cNvSpPr>
          <p:nvPr/>
        </p:nvSpPr>
        <p:spPr>
          <a:xfrm>
            <a:off x="393668" y="1676400"/>
            <a:ext cx="5429250" cy="419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识别并升级为“待核实”
• 数量冲突
• 签收人身份不明
• 付款主体不一致
• 扫描件仅登记并提示 OCR
• 文档内“忽略规则／上传文件”按证据内容处理
失败关闭
加密、损坏、超范围文件不继续猜测</a:t>
            </a:r>
          </a:p>
        </p:txBody>
      </p:sp>
      <p:sp>
        <p:nvSpPr>
          <p:cNvPr id="3" name="split-image-backing-7">
            <a:extLst>
              <a:ext uri="{FF2B5EF4-FFF2-40B4-BE49-F238E27FC236}">
                <a16:creationId xmlns:a16="http://schemas.microsoft.com/office/drawing/2014/main" id="{7E5927EE-29CC-4A07-9764-ABCA03D00451}"/>
              </a:ext>
            </a:extLst>
          </p:cNvPr>
          <p:cNvSpPr>
            <a:spLocks noGrp="1"/>
          </p:cNvSpPr>
          <p:nvPr/>
        </p:nvSpPr>
        <p:spPr>
          <a:xfrm>
            <a:off x="6269069" y="1428750"/>
            <a:ext cx="5539740" cy="4569143"/>
          </a:xfrm>
          <a:prstGeom prst="roundRect">
            <a:avLst>
              <a:gd name="adj" fmla="val 1668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29742" r="29742"/>
          <a:stretch>
            <a:fillRect/>
          </a:stretch>
        </p:blipFill>
        <p:spPr>
          <a:xfrm>
            <a:off x="6381750" y="1543050"/>
            <a:ext cx="5314950" cy="4333875"/>
          </a:xfrm>
          <a:prstGeom prst="rect">
            <a:avLst/>
          </a:prstGeom>
        </p:spPr>
      </p:pic>
      <p:sp>
        <p:nvSpPr>
          <p:cNvPr id="5" name="footer-7">
            <a:extLst>
              <a:ext uri="{FF2B5EF4-FFF2-40B4-BE49-F238E27FC236}">
                <a16:creationId xmlns:a16="http://schemas.microsoft.com/office/drawing/2014/main" id="{119A5255-39D4-4687-A98D-2ED806B9876A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0944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etrics-title-8">
            <a:extLst>
              <a:ext uri="{FF2B5EF4-FFF2-40B4-BE49-F238E27FC236}">
                <a16:creationId xmlns:a16="http://schemas.microsoft.com/office/drawing/2014/main" id="{928DE970-07E8-4A35-A3A2-73E69DEBBF5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95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交付物固定为六份律师文档＋一份机器审计记录</a:t>
            </a:r>
          </a:p>
        </p:txBody>
      </p:sp>
      <p:sp>
        <p:nvSpPr>
          <p:cNvPr id="2" name="metrics-intro-8">
            <a:extLst>
              <a:ext uri="{FF2B5EF4-FFF2-40B4-BE49-F238E27FC236}">
                <a16:creationId xmlns:a16="http://schemas.microsoft.com/office/drawing/2014/main" id="{9EF72FB8-5A53-406F-BB59-869D65387935}"/>
              </a:ext>
            </a:extLst>
          </p:cNvPr>
          <p:cNvSpPr>
            <a:spLocks noGrp="1"/>
          </p:cNvSpPr>
          <p:nvPr/>
        </p:nvSpPr>
        <p:spPr>
          <a:xfrm>
            <a:off x="393668" y="1257300"/>
            <a:ext cx="11404568" cy="1314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defRPr>
            </a:pPr>
            <a:r>
              <a:t>表格负责材料、时间、要件与金额；文书负责矛盾补证和综合体检；audit.json 串联来源、规则版本、警告与复核状态。</a:t>
            </a:r>
          </a:p>
        </p:txBody>
      </p:sp>
      <p:sp>
        <p:nvSpPr>
          <p:cNvPr id="3" name="metrics-panel-8-0">
            <a:extLst>
              <a:ext uri="{FF2B5EF4-FFF2-40B4-BE49-F238E27FC236}">
                <a16:creationId xmlns:a16="http://schemas.microsoft.com/office/drawing/2014/main" id="{EAAD5E1F-8A86-442E-A083-75C4813466A9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4" name="metrics-value-8-0">
            <a:extLst>
              <a:ext uri="{FF2B5EF4-FFF2-40B4-BE49-F238E27FC236}">
                <a16:creationId xmlns:a16="http://schemas.microsoft.com/office/drawing/2014/main" id="{999A0D3A-D5FD-4006-A771-C8ED8CF0A01A}"/>
              </a:ext>
            </a:extLst>
          </p:cNvPr>
          <p:cNvSpPr>
            <a:spLocks noGrp="1"/>
          </p:cNvSpPr>
          <p:nvPr/>
        </p:nvSpPr>
        <p:spPr>
          <a:xfrm>
            <a:off x="698468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5" name="metrics-label-8-0">
            <a:extLst>
              <a:ext uri="{FF2B5EF4-FFF2-40B4-BE49-F238E27FC236}">
                <a16:creationId xmlns:a16="http://schemas.microsoft.com/office/drawing/2014/main" id="{8C96E747-831F-4F00-B93C-A555632BB995}"/>
              </a:ext>
            </a:extLst>
          </p:cNvPr>
          <p:cNvSpPr>
            <a:spLocks noGrp="1"/>
          </p:cNvSpPr>
          <p:nvPr/>
        </p:nvSpPr>
        <p:spPr>
          <a:xfrm>
            <a:off x="698468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结构化工作簿</a:t>
            </a:r>
          </a:p>
        </p:txBody>
      </p:sp>
      <p:sp>
        <p:nvSpPr>
          <p:cNvPr id="6" name="metrics-panel-8-1">
            <a:extLst>
              <a:ext uri="{FF2B5EF4-FFF2-40B4-BE49-F238E27FC236}">
                <a16:creationId xmlns:a16="http://schemas.microsoft.com/office/drawing/2014/main" id="{127F711D-3C07-4BD4-BC08-82C50B459FA5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7" name="metrics-value-8-1">
            <a:extLst>
              <a:ext uri="{FF2B5EF4-FFF2-40B4-BE49-F238E27FC236}">
                <a16:creationId xmlns:a16="http://schemas.microsoft.com/office/drawing/2014/main" id="{739423CA-AE26-4EE1-8564-42066D702B4D}"/>
              </a:ext>
            </a:extLst>
          </p:cNvPr>
          <p:cNvSpPr>
            <a:spLocks noGrp="1"/>
          </p:cNvSpPr>
          <p:nvPr/>
        </p:nvSpPr>
        <p:spPr>
          <a:xfrm>
            <a:off x="4616482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8" name="metrics-label-8-1">
            <a:extLst>
              <a:ext uri="{FF2B5EF4-FFF2-40B4-BE49-F238E27FC236}">
                <a16:creationId xmlns:a16="http://schemas.microsoft.com/office/drawing/2014/main" id="{06AE5AD7-3B4C-4ABF-9137-D7D54DE34227}"/>
              </a:ext>
            </a:extLst>
          </p:cNvPr>
          <p:cNvSpPr>
            <a:spLocks noGrp="1"/>
          </p:cNvSpPr>
          <p:nvPr/>
        </p:nvSpPr>
        <p:spPr>
          <a:xfrm>
            <a:off x="4616482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可阅读 Word 报告</a:t>
            </a:r>
          </a:p>
        </p:txBody>
      </p:sp>
      <p:sp>
        <p:nvSpPr>
          <p:cNvPr id="9" name="metrics-panel-8-2">
            <a:extLst>
              <a:ext uri="{FF2B5EF4-FFF2-40B4-BE49-F238E27FC236}">
                <a16:creationId xmlns:a16="http://schemas.microsoft.com/office/drawing/2014/main" id="{EA7788FD-E31B-4BDD-ADF3-F2D0E1951750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10" name="metrics-value-8-2">
            <a:extLst>
              <a:ext uri="{FF2B5EF4-FFF2-40B4-BE49-F238E27FC236}">
                <a16:creationId xmlns:a16="http://schemas.microsoft.com/office/drawing/2014/main" id="{0EB1D905-99DC-4D1B-87FE-BE5A05DCB3F6}"/>
              </a:ext>
            </a:extLst>
          </p:cNvPr>
          <p:cNvSpPr>
            <a:spLocks noGrp="1"/>
          </p:cNvSpPr>
          <p:nvPr/>
        </p:nvSpPr>
        <p:spPr>
          <a:xfrm>
            <a:off x="8537067" y="3400425"/>
            <a:ext cx="2952750" cy="131445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39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1" name="metrics-label-8-2">
            <a:extLst>
              <a:ext uri="{FF2B5EF4-FFF2-40B4-BE49-F238E27FC236}">
                <a16:creationId xmlns:a16="http://schemas.microsoft.com/office/drawing/2014/main" id="{2692394E-830A-4493-8F8E-B3DEA9F1701C}"/>
              </a:ext>
            </a:extLst>
          </p:cNvPr>
          <p:cNvSpPr>
            <a:spLocks noGrp="1"/>
          </p:cNvSpPr>
          <p:nvPr/>
        </p:nvSpPr>
        <p:spPr>
          <a:xfrm>
            <a:off x="8537067" y="4953000"/>
            <a:ext cx="295275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机器审计文件</a:t>
            </a:r>
          </a:p>
        </p:txBody>
      </p:sp>
      <p:sp>
        <p:nvSpPr>
          <p:cNvPr id="12" name="footer-8">
            <a:extLst>
              <a:ext uri="{FF2B5EF4-FFF2-40B4-BE49-F238E27FC236}">
                <a16:creationId xmlns:a16="http://schemas.microsoft.com/office/drawing/2014/main" id="{C9A09DB8-98CE-4493-B316-DF6BC8E1BA76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65968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meline-title-9">
            <a:extLst>
              <a:ext uri="{FF2B5EF4-FFF2-40B4-BE49-F238E27FC236}">
                <a16:creationId xmlns:a16="http://schemas.microsoft.com/office/drawing/2014/main" id="{F35FE0C9-6369-4AB1-8256-2210878CBFC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自动验收已通过；真实第二智能体运行仍需外部账号</a:t>
            </a:r>
          </a:p>
        </p:txBody>
      </p:sp>
      <p:cxnSp>
        <p:nvCxnSpPr>
          <p:cNvPr id="14" name="timeline-rule-9"/>
          <p:cNvCxnSpPr/>
          <p:nvPr/>
        </p:nvCxnSpPr>
        <p:spPr>
          <a:xfrm>
            <a:off x="337757" y="3373755"/>
            <a:ext cx="11460480" cy="286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3" name="timeline-dot-9-0">
            <a:extLst>
              <a:ext uri="{FF2B5EF4-FFF2-40B4-BE49-F238E27FC236}">
                <a16:creationId xmlns:a16="http://schemas.microsoft.com/office/drawing/2014/main" id="{A9610BE7-66CB-48BD-A6DA-5CD8FC142490}"/>
              </a:ext>
            </a:extLst>
          </p:cNvPr>
          <p:cNvSpPr>
            <a:spLocks noGrp="1"/>
          </p:cNvSpPr>
          <p:nvPr/>
        </p:nvSpPr>
        <p:spPr>
          <a:xfrm>
            <a:off x="393668" y="3301365"/>
            <a:ext cx="152400" cy="152400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4" name="timeline-label-9-0">
            <a:extLst>
              <a:ext uri="{FF2B5EF4-FFF2-40B4-BE49-F238E27FC236}">
                <a16:creationId xmlns:a16="http://schemas.microsoft.com/office/drawing/2014/main" id="{EA573B65-B5F9-4698-8ED5-5EA872F5F8B4}"/>
              </a:ext>
            </a:extLst>
          </p:cNvPr>
          <p:cNvSpPr>
            <a:spLocks noGrp="1"/>
          </p:cNvSpPr>
          <p:nvPr/>
        </p:nvSpPr>
        <p:spPr>
          <a:xfrm>
            <a:off x="393668" y="2695575"/>
            <a:ext cx="3143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技术验证</a:t>
            </a:r>
          </a:p>
        </p:txBody>
      </p:sp>
      <p:sp>
        <p:nvSpPr>
          <p:cNvPr id="5" name="timeline-body-9-0">
            <a:extLst>
              <a:ext uri="{FF2B5EF4-FFF2-40B4-BE49-F238E27FC236}">
                <a16:creationId xmlns:a16="http://schemas.microsoft.com/office/drawing/2014/main" id="{7B678ED2-B275-4AC2-84DB-669F1E93B7DD}"/>
              </a:ext>
            </a:extLst>
          </p:cNvPr>
          <p:cNvSpPr>
            <a:spLocks noGrp="1"/>
          </p:cNvSpPr>
          <p:nvPr/>
        </p:nvSpPr>
        <p:spPr>
          <a:xfrm>
            <a:off x="393668" y="3781425"/>
            <a:ext cx="3152775" cy="1657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6 项安全测试通过
本金与定位通过</a:t>
            </a:r>
          </a:p>
        </p:txBody>
      </p:sp>
      <p:sp>
        <p:nvSpPr>
          <p:cNvPr id="6" name="timeline-dot-9-1">
            <a:extLst>
              <a:ext uri="{FF2B5EF4-FFF2-40B4-BE49-F238E27FC236}">
                <a16:creationId xmlns:a16="http://schemas.microsoft.com/office/drawing/2014/main" id="{383DCBE1-5CA0-4174-99BA-B3A83DB95A74}"/>
              </a:ext>
            </a:extLst>
          </p:cNvPr>
          <p:cNvSpPr>
            <a:spLocks noGrp="1"/>
          </p:cNvSpPr>
          <p:nvPr/>
        </p:nvSpPr>
        <p:spPr>
          <a:xfrm>
            <a:off x="4311682" y="3301365"/>
            <a:ext cx="152400" cy="152400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timeline-label-9-1">
            <a:extLst>
              <a:ext uri="{FF2B5EF4-FFF2-40B4-BE49-F238E27FC236}">
                <a16:creationId xmlns:a16="http://schemas.microsoft.com/office/drawing/2014/main" id="{F9D2FFE3-E7AC-4D70-B875-3F3F8F1A7420}"/>
              </a:ext>
            </a:extLst>
          </p:cNvPr>
          <p:cNvSpPr>
            <a:spLocks noGrp="1"/>
          </p:cNvSpPr>
          <p:nvPr/>
        </p:nvSpPr>
        <p:spPr>
          <a:xfrm>
            <a:off x="4311682" y="2695575"/>
            <a:ext cx="3143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迁移验证</a:t>
            </a:r>
          </a:p>
        </p:txBody>
      </p:sp>
      <p:sp>
        <p:nvSpPr>
          <p:cNvPr id="8" name="timeline-body-9-1">
            <a:extLst>
              <a:ext uri="{FF2B5EF4-FFF2-40B4-BE49-F238E27FC236}">
                <a16:creationId xmlns:a16="http://schemas.microsoft.com/office/drawing/2014/main" id="{F7C2D14E-811F-4349-A196-20D30510D911}"/>
              </a:ext>
            </a:extLst>
          </p:cNvPr>
          <p:cNvSpPr>
            <a:spLocks noGrp="1"/>
          </p:cNvSpPr>
          <p:nvPr/>
        </p:nvSpPr>
        <p:spPr>
          <a:xfrm>
            <a:off x="4311682" y="3781425"/>
            <a:ext cx="3152775" cy="1657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Codex／Claude 目录校验
业务不变量一致</a:t>
            </a:r>
          </a:p>
        </p:txBody>
      </p:sp>
      <p:sp>
        <p:nvSpPr>
          <p:cNvPr id="9" name="timeline-dot-9-2">
            <a:extLst>
              <a:ext uri="{FF2B5EF4-FFF2-40B4-BE49-F238E27FC236}">
                <a16:creationId xmlns:a16="http://schemas.microsoft.com/office/drawing/2014/main" id="{C6877868-1068-412C-BF33-51B376D29A21}"/>
              </a:ext>
            </a:extLst>
          </p:cNvPr>
          <p:cNvSpPr>
            <a:spLocks noGrp="1"/>
          </p:cNvSpPr>
          <p:nvPr/>
        </p:nvSpPr>
        <p:spPr>
          <a:xfrm>
            <a:off x="8232267" y="3301365"/>
            <a:ext cx="152400" cy="1524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0" name="timeline-label-9-2">
            <a:extLst>
              <a:ext uri="{FF2B5EF4-FFF2-40B4-BE49-F238E27FC236}">
                <a16:creationId xmlns:a16="http://schemas.microsoft.com/office/drawing/2014/main" id="{5EC00A29-110A-4358-94D1-1324D92A7BCC}"/>
              </a:ext>
            </a:extLst>
          </p:cNvPr>
          <p:cNvSpPr>
            <a:spLocks noGrp="1"/>
          </p:cNvSpPr>
          <p:nvPr/>
        </p:nvSpPr>
        <p:spPr>
          <a:xfrm>
            <a:off x="8232267" y="2695575"/>
            <a:ext cx="3143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人工门禁</a:t>
            </a:r>
          </a:p>
        </p:txBody>
      </p:sp>
      <p:sp>
        <p:nvSpPr>
          <p:cNvPr id="11" name="timeline-body-9-2">
            <a:extLst>
              <a:ext uri="{FF2B5EF4-FFF2-40B4-BE49-F238E27FC236}">
                <a16:creationId xmlns:a16="http://schemas.microsoft.com/office/drawing/2014/main" id="{008C453A-BE84-4E98-9463-0266180B2F13}"/>
              </a:ext>
            </a:extLst>
          </p:cNvPr>
          <p:cNvSpPr>
            <a:spLocks noGrp="1"/>
          </p:cNvSpPr>
          <p:nvPr/>
        </p:nvSpPr>
        <p:spPr>
          <a:xfrm>
            <a:off x="8232267" y="3781425"/>
            <a:ext cx="3152775" cy="1657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17283F"/>
                </a:solidFill>
                <a:latin typeface="Microsoft YaHei"/>
                <a:ea typeface="Microsoft YaHei"/>
                <a:cs typeface="Microsoft YaHei"/>
              </a:defRPr>
            </a:pPr>
            <a:r>
              <a:t>律师两轮盲测、规则签认
第二智能体实跑待完成</a:t>
            </a:r>
          </a:p>
        </p:txBody>
      </p:sp>
      <p:sp>
        <p:nvSpPr>
          <p:cNvPr id="12" name="footer-9">
            <a:extLst>
              <a:ext uri="{FF2B5EF4-FFF2-40B4-BE49-F238E27FC236}">
                <a16:creationId xmlns:a16="http://schemas.microsoft.com/office/drawing/2014/main" id="{D7C8F402-F6B3-460F-8CB0-CC8681FCB66E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5630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se-eyebrow">
            <a:extLst>
              <a:ext uri="{FF2B5EF4-FFF2-40B4-BE49-F238E27FC236}">
                <a16:creationId xmlns:a16="http://schemas.microsoft.com/office/drawing/2014/main" id="{C1683EF7-A09A-4427-8C9D-61D90BF77709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6667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53657D"/>
                </a:solidFill>
                <a:latin typeface="Microsoft YaHei"/>
                <a:ea typeface="Microsoft YaHei"/>
                <a:cs typeface="Microsoft YaHei"/>
              </a:defRPr>
            </a:pPr>
            <a:r>
              <a:t>sale-payment-preflight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C0D0B3FD-BD2B-4102-B1B4-CA7DA371E385}"/>
              </a:ext>
            </a:extLst>
          </p:cNvPr>
          <p:cNvSpPr>
            <a:spLocks noGrp="1"/>
          </p:cNvSpPr>
          <p:nvPr/>
        </p:nvSpPr>
        <p:spPr>
          <a:xfrm>
            <a:off x="393668" y="1695450"/>
            <a:ext cx="10287000" cy="251460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t>先把证据和金额讲清楚
再由律师作法律判断</a:t>
            </a:r>
          </a:p>
        </p:txBody>
      </p:sp>
      <p:sp>
        <p:nvSpPr>
          <p:cNvPr id="3" name="close-accent">
            <a:extLst>
              <a:ext uri="{FF2B5EF4-FFF2-40B4-BE49-F238E27FC236}">
                <a16:creationId xmlns:a16="http://schemas.microsoft.com/office/drawing/2014/main" id="{03FA6242-09D3-47DC-831D-389C0FB0C132}"/>
              </a:ext>
            </a:extLst>
          </p:cNvPr>
          <p:cNvSpPr>
            <a:spLocks noGrp="1"/>
          </p:cNvSpPr>
          <p:nvPr/>
        </p:nvSpPr>
        <p:spPr>
          <a:xfrm>
            <a:off x="393668" y="4572000"/>
            <a:ext cx="1104900" cy="76200"/>
          </a:xfrm>
          <a:prstGeom prst="rect">
            <a:avLst/>
          </a:prstGeom>
          <a:solidFill>
            <a:srgbClr val="3D8DFF"/>
          </a:solidFill>
        </p:spPr>
      </p:sp>
      <p:sp>
        <p:nvSpPr>
          <p:cNvPr id="4" name="close-lines">
            <a:extLst>
              <a:ext uri="{FF2B5EF4-FFF2-40B4-BE49-F238E27FC236}">
                <a16:creationId xmlns:a16="http://schemas.microsoft.com/office/drawing/2014/main" id="{0407E834-E4B9-41C1-8B4B-E724C1F6654B}"/>
              </a:ext>
            </a:extLst>
          </p:cNvPr>
          <p:cNvSpPr>
            <a:spLocks noGrp="1"/>
          </p:cNvSpPr>
          <p:nvPr/>
        </p:nvSpPr>
        <p:spPr>
          <a:xfrm>
            <a:off x="393668" y="4943475"/>
            <a:ext cx="7239000" cy="1190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defRPr>
            </a:pPr>
            <a:r>
              <a:t>合成案卷演示
默认离线｜失败关闭｜全程可追溯
律师复核前草稿｜外部签认后投稿</a:t>
            </a:r>
          </a:p>
        </p:txBody>
      </p:sp>
    </p:spTree>
    <p:extLst>
      <p:ext uri="{BB962C8B-B14F-4D97-AF65-F5344CB8AC3E}">
        <p14:creationId xmlns:p14="http://schemas.microsoft.com/office/powerpoint/2010/main" val="1583942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00"/>
    </mc:Choice>
    <mc:Fallback>
      <p:transition spd="slow" advClick="0" advTm="24000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Microsoft Office PowerPoint</Application>
  <DocSecurity>0</DocSecurity>
  <PresentationFormat>宽屏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Tim Wang</cp:lastModifiedBy>
  <cp:revision>1</cp:revision>
  <dcterms:created xsi:type="dcterms:W3CDTF">2026-08-11T17:14:35Z</dcterms:created>
  <dcterms:modified xsi:type="dcterms:W3CDTF">2026-08-11T17:17:25Z</dcterms:modified>
</cp:coreProperties>
</file>